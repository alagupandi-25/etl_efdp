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23"/>
  </p:notesMasterIdLst>
  <p:sldIdLst>
    <p:sldId id="284" r:id="rId2"/>
    <p:sldId id="273" r:id="rId3"/>
    <p:sldId id="259" r:id="rId4"/>
    <p:sldId id="271" r:id="rId5"/>
    <p:sldId id="275" r:id="rId6"/>
    <p:sldId id="288" r:id="rId7"/>
    <p:sldId id="295" r:id="rId8"/>
    <p:sldId id="277" r:id="rId9"/>
    <p:sldId id="278" r:id="rId10"/>
    <p:sldId id="280" r:id="rId11"/>
    <p:sldId id="281" r:id="rId12"/>
    <p:sldId id="283" r:id="rId13"/>
    <p:sldId id="292" r:id="rId14"/>
    <p:sldId id="290" r:id="rId15"/>
    <p:sldId id="285" r:id="rId16"/>
    <p:sldId id="287" r:id="rId17"/>
    <p:sldId id="293" r:id="rId18"/>
    <p:sldId id="294" r:id="rId19"/>
    <p:sldId id="291" r:id="rId20"/>
    <p:sldId id="286" r:id="rId21"/>
    <p:sldId id="296" r:id="rId37"/>
    <p:sldId id="297" r:id="rId38"/>
    <p:sldId id="298" r:id="rId39"/>
    <p:sldId id="299" r:id="rId40"/>
    <p:sldId id="300" r:id="rId41"/>
    <p:sldId id="268" r:id="rId22"/>
  </p:sldIdLst>
  <p:sldSz cx="18288000" cy="10287000"/>
  <p:notesSz cx="6858000" cy="9144000"/>
  <p:embeddedFontLst>
    <p:embeddedFont>
      <p:font typeface="Archivo Black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Montserrat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5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96" y="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  <Relationship Id="rId37" Type="http://schemas.openxmlformats.org/officeDocument/2006/relationships/slide" Target="slides/slide22.xml"/>
  <Relationship Id="rId38" Type="http://schemas.openxmlformats.org/officeDocument/2006/relationships/slide" Target="slides/slide23.xml"/>
  <Relationship Id="rId39" Type="http://schemas.openxmlformats.org/officeDocument/2006/relationships/slide" Target="slides/slide24.xml"/>
  <Relationship Id="rId40" Type="http://schemas.openxmlformats.org/officeDocument/2006/relationships/slide" Target="slides/slide25.xml"/>
  <Relationship Id="rId41" Type="http://schemas.openxmlformats.org/officeDocument/2006/relationships/slide" Target="slides/slide2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7838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9414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764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1501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9115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0826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08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4584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4104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10082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0540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50515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0328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273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8643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0363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778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1877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4939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OBJECT_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6"/>
          <p:cNvGrpSpPr/>
          <p:nvPr/>
        </p:nvGrpSpPr>
        <p:grpSpPr>
          <a:xfrm>
            <a:off x="0" y="8803746"/>
            <a:ext cx="18288118" cy="1483263"/>
            <a:chOff x="0" y="-38100"/>
            <a:chExt cx="4816592" cy="390651"/>
          </a:xfrm>
        </p:grpSpPr>
        <p:sp>
          <p:nvSpPr>
            <p:cNvPr id="34" name="Google Shape;34;p6"/>
            <p:cNvSpPr/>
            <p:nvPr/>
          </p:nvSpPr>
          <p:spPr>
            <a:xfrm>
              <a:off x="0" y="0"/>
              <a:ext cx="4816592" cy="352551"/>
            </a:xfrm>
            <a:custGeom>
              <a:avLst/>
              <a:gdLst/>
              <a:ahLst/>
              <a:cxnLst/>
              <a:rect l="l" t="t" r="r" b="b"/>
              <a:pathLst>
                <a:path w="4816592" h="3525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352551"/>
                  </a:lnTo>
                  <a:lnTo>
                    <a:pt x="0" y="352551"/>
                  </a:lnTo>
                  <a:close/>
                </a:path>
              </a:pathLst>
            </a:custGeom>
            <a:solidFill>
              <a:srgbClr val="0457A8"/>
            </a:solidFill>
            <a:ln>
              <a:noFill/>
            </a:ln>
          </p:spPr>
        </p:sp>
        <p:sp>
          <p:nvSpPr>
            <p:cNvPr id="35" name="Google Shape;35;p6"/>
            <p:cNvSpPr txBox="1"/>
            <p:nvPr/>
          </p:nvSpPr>
          <p:spPr>
            <a:xfrm>
              <a:off x="0" y="-38100"/>
              <a:ext cx="4816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" name="Google Shape;36;p6"/>
          <p:cNvSpPr/>
          <p:nvPr/>
        </p:nvSpPr>
        <p:spPr>
          <a:xfrm>
            <a:off x="11118135" y="643428"/>
            <a:ext cx="6381920" cy="9000143"/>
          </a:xfrm>
          <a:custGeom>
            <a:avLst/>
            <a:gdLst/>
            <a:ahLst/>
            <a:cxnLst/>
            <a:rect l="l" t="t" r="r" b="b"/>
            <a:pathLst>
              <a:path w="6381920" h="9000143" extrusionOk="0">
                <a:moveTo>
                  <a:pt x="0" y="0"/>
                </a:moveTo>
                <a:lnTo>
                  <a:pt x="6381920" y="0"/>
                </a:lnTo>
                <a:lnTo>
                  <a:pt x="6381920" y="9000144"/>
                </a:lnTo>
                <a:lnTo>
                  <a:pt x="0" y="9000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3">
  <p:cSld name="OBJECT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7"/>
          <p:cNvGrpSpPr/>
          <p:nvPr/>
        </p:nvGrpSpPr>
        <p:grpSpPr>
          <a:xfrm>
            <a:off x="1593137" y="1865434"/>
            <a:ext cx="15101756" cy="6556146"/>
            <a:chOff x="0" y="0"/>
            <a:chExt cx="4236711" cy="1839289"/>
          </a:xfrm>
        </p:grpSpPr>
        <p:sp>
          <p:nvSpPr>
            <p:cNvPr id="39" name="Google Shape;39;p7"/>
            <p:cNvSpPr/>
            <p:nvPr/>
          </p:nvSpPr>
          <p:spPr>
            <a:xfrm>
              <a:off x="0" y="0"/>
              <a:ext cx="4236711" cy="1839289"/>
            </a:xfrm>
            <a:custGeom>
              <a:avLst/>
              <a:gdLst/>
              <a:ahLst/>
              <a:cxnLst/>
              <a:rect l="l" t="t" r="r" b="b"/>
              <a:pathLst>
                <a:path w="4236711" h="1839289" extrusionOk="0">
                  <a:moveTo>
                    <a:pt x="2118356" y="0"/>
                  </a:moveTo>
                  <a:cubicBezTo>
                    <a:pt x="948420" y="0"/>
                    <a:pt x="0" y="411739"/>
                    <a:pt x="0" y="919645"/>
                  </a:cubicBezTo>
                  <a:cubicBezTo>
                    <a:pt x="0" y="1427550"/>
                    <a:pt x="948420" y="1839289"/>
                    <a:pt x="2118356" y="1839289"/>
                  </a:cubicBezTo>
                  <a:cubicBezTo>
                    <a:pt x="3288291" y="1839289"/>
                    <a:pt x="4236711" y="1427550"/>
                    <a:pt x="4236711" y="919645"/>
                  </a:cubicBezTo>
                  <a:cubicBezTo>
                    <a:pt x="4236711" y="411739"/>
                    <a:pt x="3288291" y="0"/>
                    <a:pt x="2118356" y="0"/>
                  </a:cubicBezTo>
                  <a:close/>
                </a:path>
              </a:pathLst>
            </a:custGeom>
            <a:solidFill>
              <a:srgbClr val="F5DA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7"/>
            <p:cNvSpPr txBox="1"/>
            <p:nvPr/>
          </p:nvSpPr>
          <p:spPr>
            <a:xfrm>
              <a:off x="397192" y="134333"/>
              <a:ext cx="3442200" cy="153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4">
  <p:cSld name="OBJECT_4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1028700" y="1028700"/>
            <a:ext cx="16230600" cy="3423181"/>
          </a:xfrm>
          <a:custGeom>
            <a:avLst/>
            <a:gdLst/>
            <a:ahLst/>
            <a:cxnLst/>
            <a:rect l="l" t="t" r="r" b="b"/>
            <a:pathLst>
              <a:path w="16230600" h="3423181" extrusionOk="0">
                <a:moveTo>
                  <a:pt x="0" y="0"/>
                </a:moveTo>
                <a:lnTo>
                  <a:pt x="16230600" y="0"/>
                </a:lnTo>
                <a:lnTo>
                  <a:pt x="16230600" y="3423181"/>
                </a:lnTo>
                <a:lnTo>
                  <a:pt x="0" y="3423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5">
  <p:cSld name="OBJECT_5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-249448" y="840078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" name="Google Shape;45;p9"/>
          <p:cNvSpPr/>
          <p:nvPr/>
        </p:nvSpPr>
        <p:spPr>
          <a:xfrm>
            <a:off x="6151440" y="840078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9"/>
          <p:cNvSpPr/>
          <p:nvPr/>
        </p:nvSpPr>
        <p:spPr>
          <a:xfrm>
            <a:off x="2833849" y="5332122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" name="Google Shape;47;p9"/>
          <p:cNvSpPr/>
          <p:nvPr/>
        </p:nvSpPr>
        <p:spPr>
          <a:xfrm>
            <a:off x="12556159" y="840078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" name="Google Shape;48;p9"/>
          <p:cNvSpPr/>
          <p:nvPr/>
        </p:nvSpPr>
        <p:spPr>
          <a:xfrm>
            <a:off x="-3617131" y="5332122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9" name="Google Shape;49;p9"/>
          <p:cNvSpPr/>
          <p:nvPr/>
        </p:nvSpPr>
        <p:spPr>
          <a:xfrm>
            <a:off x="9286193" y="5332122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0" name="Google Shape;50;p9"/>
          <p:cNvSpPr/>
          <p:nvPr/>
        </p:nvSpPr>
        <p:spPr>
          <a:xfrm>
            <a:off x="15738537" y="5332122"/>
            <a:ext cx="6166594" cy="4114800"/>
          </a:xfrm>
          <a:custGeom>
            <a:avLst/>
            <a:gdLst/>
            <a:ahLst/>
            <a:cxnLst/>
            <a:rect l="l" t="t" r="r" b="b"/>
            <a:pathLst>
              <a:path w="6166594" h="4114800" extrusionOk="0">
                <a:moveTo>
                  <a:pt x="0" y="0"/>
                </a:moveTo>
                <a:lnTo>
                  <a:pt x="6166594" y="0"/>
                </a:lnTo>
                <a:lnTo>
                  <a:pt x="6166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1028700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1259" t="-23139" b="-1319"/>
            </a:stretch>
          </a:blipFill>
          <a:ln>
            <a:noFill/>
          </a:ln>
        </p:spPr>
      </p:sp>
      <p:sp>
        <p:nvSpPr>
          <p:cNvPr id="52" name="Google Shape;52;p9"/>
          <p:cNvSpPr/>
          <p:nvPr/>
        </p:nvSpPr>
        <p:spPr>
          <a:xfrm>
            <a:off x="6368681" y="1035888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56418" b="-74219"/>
            </a:stretch>
          </a:blipFill>
          <a:ln>
            <a:noFill/>
          </a:ln>
        </p:spPr>
      </p:sp>
      <p:sp>
        <p:nvSpPr>
          <p:cNvPr id="53" name="Google Shape;53;p9"/>
          <p:cNvSpPr/>
          <p:nvPr/>
        </p:nvSpPr>
        <p:spPr>
          <a:xfrm>
            <a:off x="12765709" y="1028700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2669"/>
            </a:stretch>
          </a:blipFill>
          <a:ln>
            <a:noFill/>
          </a:ln>
        </p:spPr>
      </p:sp>
      <p:sp>
        <p:nvSpPr>
          <p:cNvPr id="54" name="Google Shape;54;p9"/>
          <p:cNvSpPr/>
          <p:nvPr/>
        </p:nvSpPr>
        <p:spPr>
          <a:xfrm>
            <a:off x="3051091" y="5527932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30925"/>
            </a:stretch>
          </a:blipFill>
          <a:ln>
            <a:noFill/>
          </a:ln>
        </p:spPr>
      </p:sp>
      <p:sp>
        <p:nvSpPr>
          <p:cNvPr id="55" name="Google Shape;55;p9"/>
          <p:cNvSpPr/>
          <p:nvPr/>
        </p:nvSpPr>
        <p:spPr>
          <a:xfrm>
            <a:off x="9503435" y="5535120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639"/>
            </a:stretch>
          </a:blipFill>
          <a:ln>
            <a:noFill/>
          </a:ln>
        </p:spPr>
      </p:sp>
      <p:sp>
        <p:nvSpPr>
          <p:cNvPr id="56" name="Google Shape;56;p9"/>
          <p:cNvSpPr/>
          <p:nvPr/>
        </p:nvSpPr>
        <p:spPr>
          <a:xfrm>
            <a:off x="15955779" y="5535120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62547" r="-23099" b="-26968"/>
            </a:stretch>
          </a:blipFill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-3403087" y="5535120"/>
            <a:ext cx="5732389" cy="3723360"/>
          </a:xfrm>
          <a:custGeom>
            <a:avLst/>
            <a:gdLst/>
            <a:ahLst/>
            <a:cxnLst/>
            <a:rect l="l" t="t" r="r" b="b"/>
            <a:pathLst>
              <a:path w="888054" h="576818" extrusionOk="0">
                <a:moveTo>
                  <a:pt x="0" y="0"/>
                </a:moveTo>
                <a:lnTo>
                  <a:pt x="888054" y="0"/>
                </a:lnTo>
                <a:lnTo>
                  <a:pt x="888054" y="576818"/>
                </a:lnTo>
                <a:lnTo>
                  <a:pt x="0" y="576818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1319" b="-1319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">
  <p:cSld name="OBJECT_6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0"/>
          <p:cNvGrpSpPr/>
          <p:nvPr/>
        </p:nvGrpSpPr>
        <p:grpSpPr>
          <a:xfrm>
            <a:off x="0" y="8803746"/>
            <a:ext cx="18288118" cy="1483263"/>
            <a:chOff x="0" y="-38100"/>
            <a:chExt cx="4816592" cy="390651"/>
          </a:xfrm>
        </p:grpSpPr>
        <p:sp>
          <p:nvSpPr>
            <p:cNvPr id="60" name="Google Shape;60;p10"/>
            <p:cNvSpPr/>
            <p:nvPr/>
          </p:nvSpPr>
          <p:spPr>
            <a:xfrm>
              <a:off x="0" y="0"/>
              <a:ext cx="4816592" cy="352551"/>
            </a:xfrm>
            <a:custGeom>
              <a:avLst/>
              <a:gdLst/>
              <a:ahLst/>
              <a:cxnLst/>
              <a:rect l="l" t="t" r="r" b="b"/>
              <a:pathLst>
                <a:path w="4816592" h="352551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352551"/>
                  </a:lnTo>
                  <a:lnTo>
                    <a:pt x="0" y="352551"/>
                  </a:lnTo>
                  <a:close/>
                </a:path>
              </a:pathLst>
            </a:custGeom>
            <a:solidFill>
              <a:srgbClr val="0457A8"/>
            </a:solidFill>
            <a:ln>
              <a:noFill/>
            </a:ln>
          </p:spPr>
        </p:sp>
        <p:sp>
          <p:nvSpPr>
            <p:cNvPr id="61" name="Google Shape;61;p10"/>
            <p:cNvSpPr txBox="1"/>
            <p:nvPr/>
          </p:nvSpPr>
          <p:spPr>
            <a:xfrm>
              <a:off x="0" y="-38100"/>
              <a:ext cx="4816500" cy="3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0"/>
          <p:cNvSpPr/>
          <p:nvPr/>
        </p:nvSpPr>
        <p:spPr>
          <a:xfrm>
            <a:off x="2743200" y="4709955"/>
            <a:ext cx="12801600" cy="5577045"/>
          </a:xfrm>
          <a:custGeom>
            <a:avLst/>
            <a:gdLst/>
            <a:ahLst/>
            <a:cxnLst/>
            <a:rect l="l" t="t" r="r" b="b"/>
            <a:pathLst>
              <a:path w="12801600" h="5577045" extrusionOk="0">
                <a:moveTo>
                  <a:pt x="0" y="0"/>
                </a:moveTo>
                <a:lnTo>
                  <a:pt x="12801600" y="0"/>
                </a:lnTo>
                <a:lnTo>
                  <a:pt x="12801600" y="5577045"/>
                </a:lnTo>
                <a:lnTo>
                  <a:pt x="0" y="5577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 2">
  <p:cSld name="OBJECT_6_2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-1942508" y="1028700"/>
            <a:ext cx="13502679" cy="11685955"/>
          </a:xfrm>
          <a:custGeom>
            <a:avLst/>
            <a:gdLst/>
            <a:ahLst/>
            <a:cxnLst/>
            <a:rect l="l" t="t" r="r" b="b"/>
            <a:pathLst>
              <a:path w="13502679" h="11685955" extrusionOk="0">
                <a:moveTo>
                  <a:pt x="0" y="0"/>
                </a:moveTo>
                <a:lnTo>
                  <a:pt x="13502679" y="0"/>
                </a:lnTo>
                <a:lnTo>
                  <a:pt x="13502679" y="11685955"/>
                </a:lnTo>
                <a:lnTo>
                  <a:pt x="0" y="11685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 2 1">
  <p:cSld name="OBJECT_6_2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2"/>
          <p:cNvGrpSpPr/>
          <p:nvPr/>
        </p:nvGrpSpPr>
        <p:grpSpPr>
          <a:xfrm>
            <a:off x="-452214" y="3126214"/>
            <a:ext cx="8187635" cy="1440924"/>
            <a:chOff x="0" y="-28575"/>
            <a:chExt cx="2156400" cy="379500"/>
          </a:xfrm>
        </p:grpSpPr>
        <p:sp>
          <p:nvSpPr>
            <p:cNvPr id="67" name="Google Shape;67;p12"/>
            <p:cNvSpPr/>
            <p:nvPr/>
          </p:nvSpPr>
          <p:spPr>
            <a:xfrm>
              <a:off x="0" y="0"/>
              <a:ext cx="2156258" cy="350849"/>
            </a:xfrm>
            <a:custGeom>
              <a:avLst/>
              <a:gdLst/>
              <a:ahLst/>
              <a:cxnLst/>
              <a:rect l="l" t="t" r="r" b="b"/>
              <a:pathLst>
                <a:path w="2156258" h="350849" extrusionOk="0">
                  <a:moveTo>
                    <a:pt x="0" y="0"/>
                  </a:moveTo>
                  <a:lnTo>
                    <a:pt x="2156258" y="0"/>
                  </a:lnTo>
                  <a:lnTo>
                    <a:pt x="2156258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FBD917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8" name="Google Shape;68;p12"/>
            <p:cNvSpPr txBox="1"/>
            <p:nvPr/>
          </p:nvSpPr>
          <p:spPr>
            <a:xfrm>
              <a:off x="0" y="-28575"/>
              <a:ext cx="215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" name="Google Shape;69;p12"/>
          <p:cNvGrpSpPr/>
          <p:nvPr/>
        </p:nvGrpSpPr>
        <p:grpSpPr>
          <a:xfrm>
            <a:off x="7925327" y="3126214"/>
            <a:ext cx="10815470" cy="1440924"/>
            <a:chOff x="0" y="-28575"/>
            <a:chExt cx="2848500" cy="379500"/>
          </a:xfrm>
        </p:grpSpPr>
        <p:sp>
          <p:nvSpPr>
            <p:cNvPr id="70" name="Google Shape;70;p12"/>
            <p:cNvSpPr/>
            <p:nvPr/>
          </p:nvSpPr>
          <p:spPr>
            <a:xfrm>
              <a:off x="0" y="0"/>
              <a:ext cx="2848365" cy="350849"/>
            </a:xfrm>
            <a:custGeom>
              <a:avLst/>
              <a:gdLst/>
              <a:ahLst/>
              <a:cxnLst/>
              <a:rect l="l" t="t" r="r" b="b"/>
              <a:pathLst>
                <a:path w="2848365" h="350849" extrusionOk="0">
                  <a:moveTo>
                    <a:pt x="0" y="0"/>
                  </a:moveTo>
                  <a:lnTo>
                    <a:pt x="2848365" y="0"/>
                  </a:lnTo>
                  <a:lnTo>
                    <a:pt x="2848365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0457A8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1" name="Google Shape;71;p12"/>
            <p:cNvSpPr txBox="1"/>
            <p:nvPr/>
          </p:nvSpPr>
          <p:spPr>
            <a:xfrm>
              <a:off x="0" y="-28575"/>
              <a:ext cx="2848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12"/>
          <p:cNvGrpSpPr/>
          <p:nvPr/>
        </p:nvGrpSpPr>
        <p:grpSpPr>
          <a:xfrm>
            <a:off x="4825563" y="4839344"/>
            <a:ext cx="7996594" cy="1440924"/>
            <a:chOff x="0" y="-28575"/>
            <a:chExt cx="2106085" cy="379500"/>
          </a:xfrm>
        </p:grpSpPr>
        <p:sp>
          <p:nvSpPr>
            <p:cNvPr id="73" name="Google Shape;73;p12"/>
            <p:cNvSpPr/>
            <p:nvPr/>
          </p:nvSpPr>
          <p:spPr>
            <a:xfrm>
              <a:off x="0" y="0"/>
              <a:ext cx="2106085" cy="350849"/>
            </a:xfrm>
            <a:custGeom>
              <a:avLst/>
              <a:gdLst/>
              <a:ahLst/>
              <a:cxnLst/>
              <a:rect l="l" t="t" r="r" b="b"/>
              <a:pathLst>
                <a:path w="2106085" h="350849" extrusionOk="0">
                  <a:moveTo>
                    <a:pt x="0" y="0"/>
                  </a:moveTo>
                  <a:lnTo>
                    <a:pt x="2106085" y="0"/>
                  </a:lnTo>
                  <a:lnTo>
                    <a:pt x="2106085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0457A8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4" name="Google Shape;74;p12"/>
            <p:cNvSpPr txBox="1"/>
            <p:nvPr/>
          </p:nvSpPr>
          <p:spPr>
            <a:xfrm>
              <a:off x="0" y="-28575"/>
              <a:ext cx="2106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p12"/>
          <p:cNvGrpSpPr/>
          <p:nvPr/>
        </p:nvGrpSpPr>
        <p:grpSpPr>
          <a:xfrm>
            <a:off x="-452214" y="4839344"/>
            <a:ext cx="5087311" cy="1440924"/>
            <a:chOff x="0" y="-28575"/>
            <a:chExt cx="1339859" cy="379500"/>
          </a:xfrm>
        </p:grpSpPr>
        <p:sp>
          <p:nvSpPr>
            <p:cNvPr id="76" name="Google Shape;76;p12"/>
            <p:cNvSpPr/>
            <p:nvPr/>
          </p:nvSpPr>
          <p:spPr>
            <a:xfrm>
              <a:off x="0" y="0"/>
              <a:ext cx="1339859" cy="350849"/>
            </a:xfrm>
            <a:custGeom>
              <a:avLst/>
              <a:gdLst/>
              <a:ahLst/>
              <a:cxnLst/>
              <a:rect l="l" t="t" r="r" b="b"/>
              <a:pathLst>
                <a:path w="1339859" h="350849" extrusionOk="0">
                  <a:moveTo>
                    <a:pt x="0" y="0"/>
                  </a:moveTo>
                  <a:lnTo>
                    <a:pt x="1339859" y="0"/>
                  </a:lnTo>
                  <a:lnTo>
                    <a:pt x="1339859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FBD917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7" name="Google Shape;77;p12"/>
            <p:cNvSpPr txBox="1"/>
            <p:nvPr/>
          </p:nvSpPr>
          <p:spPr>
            <a:xfrm>
              <a:off x="0" y="-28575"/>
              <a:ext cx="13398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p12"/>
          <p:cNvGrpSpPr/>
          <p:nvPr/>
        </p:nvGrpSpPr>
        <p:grpSpPr>
          <a:xfrm>
            <a:off x="13012603" y="4839344"/>
            <a:ext cx="5727646" cy="1440924"/>
            <a:chOff x="0" y="-28575"/>
            <a:chExt cx="1508506" cy="379500"/>
          </a:xfrm>
        </p:grpSpPr>
        <p:sp>
          <p:nvSpPr>
            <p:cNvPr id="79" name="Google Shape;79;p12"/>
            <p:cNvSpPr/>
            <p:nvPr/>
          </p:nvSpPr>
          <p:spPr>
            <a:xfrm>
              <a:off x="0" y="0"/>
              <a:ext cx="1508506" cy="350849"/>
            </a:xfrm>
            <a:custGeom>
              <a:avLst/>
              <a:gdLst/>
              <a:ahLst/>
              <a:cxnLst/>
              <a:rect l="l" t="t" r="r" b="b"/>
              <a:pathLst>
                <a:path w="1508506" h="350849" extrusionOk="0">
                  <a:moveTo>
                    <a:pt x="0" y="0"/>
                  </a:moveTo>
                  <a:lnTo>
                    <a:pt x="1508506" y="0"/>
                  </a:lnTo>
                  <a:lnTo>
                    <a:pt x="1508506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FBD917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0" name="Google Shape;80;p12"/>
            <p:cNvSpPr txBox="1"/>
            <p:nvPr/>
          </p:nvSpPr>
          <p:spPr>
            <a:xfrm>
              <a:off x="0" y="-28575"/>
              <a:ext cx="1508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p12"/>
          <p:cNvGrpSpPr/>
          <p:nvPr/>
        </p:nvGrpSpPr>
        <p:grpSpPr>
          <a:xfrm>
            <a:off x="-452214" y="6552475"/>
            <a:ext cx="10815470" cy="1440924"/>
            <a:chOff x="0" y="-28575"/>
            <a:chExt cx="2848500" cy="379500"/>
          </a:xfrm>
        </p:grpSpPr>
        <p:sp>
          <p:nvSpPr>
            <p:cNvPr id="82" name="Google Shape;82;p12"/>
            <p:cNvSpPr/>
            <p:nvPr/>
          </p:nvSpPr>
          <p:spPr>
            <a:xfrm>
              <a:off x="0" y="0"/>
              <a:ext cx="2848365" cy="350849"/>
            </a:xfrm>
            <a:custGeom>
              <a:avLst/>
              <a:gdLst/>
              <a:ahLst/>
              <a:cxnLst/>
              <a:rect l="l" t="t" r="r" b="b"/>
              <a:pathLst>
                <a:path w="2848365" h="350849" extrusionOk="0">
                  <a:moveTo>
                    <a:pt x="0" y="0"/>
                  </a:moveTo>
                  <a:lnTo>
                    <a:pt x="2848365" y="0"/>
                  </a:lnTo>
                  <a:lnTo>
                    <a:pt x="2848365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0457A8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3" name="Google Shape;83;p12"/>
            <p:cNvSpPr txBox="1"/>
            <p:nvPr/>
          </p:nvSpPr>
          <p:spPr>
            <a:xfrm>
              <a:off x="0" y="-28575"/>
              <a:ext cx="28485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12"/>
          <p:cNvGrpSpPr/>
          <p:nvPr/>
        </p:nvGrpSpPr>
        <p:grpSpPr>
          <a:xfrm>
            <a:off x="10553173" y="6552475"/>
            <a:ext cx="8187635" cy="1440924"/>
            <a:chOff x="0" y="-28575"/>
            <a:chExt cx="2156400" cy="379500"/>
          </a:xfrm>
        </p:grpSpPr>
        <p:sp>
          <p:nvSpPr>
            <p:cNvPr id="85" name="Google Shape;85;p12"/>
            <p:cNvSpPr/>
            <p:nvPr/>
          </p:nvSpPr>
          <p:spPr>
            <a:xfrm>
              <a:off x="0" y="0"/>
              <a:ext cx="2156258" cy="350849"/>
            </a:xfrm>
            <a:custGeom>
              <a:avLst/>
              <a:gdLst/>
              <a:ahLst/>
              <a:cxnLst/>
              <a:rect l="l" t="t" r="r" b="b"/>
              <a:pathLst>
                <a:path w="2156258" h="350849" extrusionOk="0">
                  <a:moveTo>
                    <a:pt x="0" y="0"/>
                  </a:moveTo>
                  <a:lnTo>
                    <a:pt x="2156258" y="0"/>
                  </a:lnTo>
                  <a:lnTo>
                    <a:pt x="2156258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FBD917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86" name="Google Shape;86;p12"/>
            <p:cNvSpPr txBox="1"/>
            <p:nvPr/>
          </p:nvSpPr>
          <p:spPr>
            <a:xfrm>
              <a:off x="0" y="-28575"/>
              <a:ext cx="2156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2"/>
          <p:cNvSpPr txBox="1"/>
          <p:nvPr/>
        </p:nvSpPr>
        <p:spPr>
          <a:xfrm>
            <a:off x="1886062" y="1209675"/>
            <a:ext cx="145158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TOOLS &amp; SOFTWARE</a:t>
            </a:r>
            <a:endParaRPr sz="9000"/>
          </a:p>
        </p:txBody>
      </p:sp>
      <p:grpSp>
        <p:nvGrpSpPr>
          <p:cNvPr id="88" name="Google Shape;88;p12"/>
          <p:cNvGrpSpPr/>
          <p:nvPr/>
        </p:nvGrpSpPr>
        <p:grpSpPr>
          <a:xfrm>
            <a:off x="4825563" y="8265605"/>
            <a:ext cx="7996594" cy="1440924"/>
            <a:chOff x="0" y="-28575"/>
            <a:chExt cx="2106085" cy="379500"/>
          </a:xfrm>
        </p:grpSpPr>
        <p:sp>
          <p:nvSpPr>
            <p:cNvPr id="89" name="Google Shape;89;p12"/>
            <p:cNvSpPr/>
            <p:nvPr/>
          </p:nvSpPr>
          <p:spPr>
            <a:xfrm>
              <a:off x="0" y="0"/>
              <a:ext cx="2106085" cy="350849"/>
            </a:xfrm>
            <a:custGeom>
              <a:avLst/>
              <a:gdLst/>
              <a:ahLst/>
              <a:cxnLst/>
              <a:rect l="l" t="t" r="r" b="b"/>
              <a:pathLst>
                <a:path w="2106085" h="350849" extrusionOk="0">
                  <a:moveTo>
                    <a:pt x="0" y="0"/>
                  </a:moveTo>
                  <a:lnTo>
                    <a:pt x="2106085" y="0"/>
                  </a:lnTo>
                  <a:lnTo>
                    <a:pt x="2106085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FBD917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0" name="Google Shape;90;p12"/>
            <p:cNvSpPr txBox="1"/>
            <p:nvPr/>
          </p:nvSpPr>
          <p:spPr>
            <a:xfrm>
              <a:off x="0" y="-28575"/>
              <a:ext cx="2106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2"/>
          <p:cNvGrpSpPr/>
          <p:nvPr/>
        </p:nvGrpSpPr>
        <p:grpSpPr>
          <a:xfrm>
            <a:off x="-452214" y="8265605"/>
            <a:ext cx="5087311" cy="1440924"/>
            <a:chOff x="0" y="-28575"/>
            <a:chExt cx="1339859" cy="379500"/>
          </a:xfrm>
        </p:grpSpPr>
        <p:sp>
          <p:nvSpPr>
            <p:cNvPr id="92" name="Google Shape;92;p12"/>
            <p:cNvSpPr/>
            <p:nvPr/>
          </p:nvSpPr>
          <p:spPr>
            <a:xfrm>
              <a:off x="0" y="0"/>
              <a:ext cx="1339859" cy="350849"/>
            </a:xfrm>
            <a:custGeom>
              <a:avLst/>
              <a:gdLst/>
              <a:ahLst/>
              <a:cxnLst/>
              <a:rect l="l" t="t" r="r" b="b"/>
              <a:pathLst>
                <a:path w="1339859" h="350849" extrusionOk="0">
                  <a:moveTo>
                    <a:pt x="0" y="0"/>
                  </a:moveTo>
                  <a:lnTo>
                    <a:pt x="1339859" y="0"/>
                  </a:lnTo>
                  <a:lnTo>
                    <a:pt x="1339859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0457A8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3" name="Google Shape;93;p12"/>
            <p:cNvSpPr txBox="1"/>
            <p:nvPr/>
          </p:nvSpPr>
          <p:spPr>
            <a:xfrm>
              <a:off x="0" y="-28575"/>
              <a:ext cx="13398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2"/>
          <p:cNvGrpSpPr/>
          <p:nvPr/>
        </p:nvGrpSpPr>
        <p:grpSpPr>
          <a:xfrm>
            <a:off x="13012603" y="8265605"/>
            <a:ext cx="5727646" cy="1440924"/>
            <a:chOff x="0" y="-28575"/>
            <a:chExt cx="1508506" cy="379500"/>
          </a:xfrm>
        </p:grpSpPr>
        <p:sp>
          <p:nvSpPr>
            <p:cNvPr id="95" name="Google Shape;95;p12"/>
            <p:cNvSpPr/>
            <p:nvPr/>
          </p:nvSpPr>
          <p:spPr>
            <a:xfrm>
              <a:off x="0" y="0"/>
              <a:ext cx="1508506" cy="350849"/>
            </a:xfrm>
            <a:custGeom>
              <a:avLst/>
              <a:gdLst/>
              <a:ahLst/>
              <a:cxnLst/>
              <a:rect l="l" t="t" r="r" b="b"/>
              <a:pathLst>
                <a:path w="1508506" h="350849" extrusionOk="0">
                  <a:moveTo>
                    <a:pt x="0" y="0"/>
                  </a:moveTo>
                  <a:lnTo>
                    <a:pt x="1508506" y="0"/>
                  </a:lnTo>
                  <a:lnTo>
                    <a:pt x="1508506" y="350849"/>
                  </a:lnTo>
                  <a:lnTo>
                    <a:pt x="0" y="350849"/>
                  </a:lnTo>
                  <a:close/>
                </a:path>
              </a:pathLst>
            </a:custGeom>
            <a:solidFill>
              <a:srgbClr val="0457A8"/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6" name="Google Shape;96;p12"/>
            <p:cNvSpPr txBox="1"/>
            <p:nvPr/>
          </p:nvSpPr>
          <p:spPr>
            <a:xfrm>
              <a:off x="0" y="-28575"/>
              <a:ext cx="1508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2"/>
          <p:cNvSpPr txBox="1"/>
          <p:nvPr/>
        </p:nvSpPr>
        <p:spPr>
          <a:xfrm>
            <a:off x="1218437" y="3656300"/>
            <a:ext cx="484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98" name="Google Shape;98;p12"/>
          <p:cNvSpPr txBox="1"/>
          <p:nvPr/>
        </p:nvSpPr>
        <p:spPr>
          <a:xfrm>
            <a:off x="10909900" y="3603277"/>
            <a:ext cx="484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6400963" y="5316408"/>
            <a:ext cx="484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2532360" y="7029538"/>
            <a:ext cx="48456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0" y="8720455"/>
            <a:ext cx="4635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2" name="Google Shape;102;p12"/>
          <p:cNvSpPr txBox="1"/>
          <p:nvPr/>
        </p:nvSpPr>
        <p:spPr>
          <a:xfrm>
            <a:off x="6506302" y="8742669"/>
            <a:ext cx="4635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3" name="Google Shape;103;p12"/>
          <p:cNvSpPr txBox="1"/>
          <p:nvPr/>
        </p:nvSpPr>
        <p:spPr>
          <a:xfrm>
            <a:off x="13438109" y="8720455"/>
            <a:ext cx="4635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12329162" y="7029538"/>
            <a:ext cx="4635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5" name="Google Shape;105;p12"/>
          <p:cNvSpPr txBox="1"/>
          <p:nvPr/>
        </p:nvSpPr>
        <p:spPr>
          <a:xfrm>
            <a:off x="13438109" y="5342075"/>
            <a:ext cx="46350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  <p:sp>
        <p:nvSpPr>
          <p:cNvPr id="106" name="Google Shape;106;p12"/>
          <p:cNvSpPr txBox="1"/>
          <p:nvPr/>
        </p:nvSpPr>
        <p:spPr>
          <a:xfrm>
            <a:off x="282566" y="5313500"/>
            <a:ext cx="4069800" cy="4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Tools &amp; Software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 2 1 1">
  <p:cSld name="OBJECT_6_2_1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12772815" y="1006926"/>
            <a:ext cx="4486485" cy="9638933"/>
          </a:xfrm>
          <a:custGeom>
            <a:avLst/>
            <a:gdLst/>
            <a:ahLst/>
            <a:cxnLst/>
            <a:rect l="l" t="t" r="r" b="b"/>
            <a:pathLst>
              <a:path w="4486485" h="9638933" extrusionOk="0">
                <a:moveTo>
                  <a:pt x="0" y="0"/>
                </a:moveTo>
                <a:lnTo>
                  <a:pt x="4486485" y="0"/>
                </a:lnTo>
                <a:lnTo>
                  <a:pt x="4486485" y="9638933"/>
                </a:lnTo>
                <a:lnTo>
                  <a:pt x="0" y="9638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 2 1 2">
  <p:cSld name="OBJECT_6_2_1_2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4"/>
          <p:cNvGrpSpPr/>
          <p:nvPr/>
        </p:nvGrpSpPr>
        <p:grpSpPr>
          <a:xfrm>
            <a:off x="0" y="-144662"/>
            <a:ext cx="11796729" cy="10431728"/>
            <a:chOff x="0" y="-38100"/>
            <a:chExt cx="3106937" cy="2747433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3106937" cy="2709333"/>
            </a:xfrm>
            <a:custGeom>
              <a:avLst/>
              <a:gdLst/>
              <a:ahLst/>
              <a:cxnLst/>
              <a:rect l="l" t="t" r="r" b="b"/>
              <a:pathLst>
                <a:path w="3106937" h="2709333" extrusionOk="0">
                  <a:moveTo>
                    <a:pt x="0" y="0"/>
                  </a:moveTo>
                  <a:lnTo>
                    <a:pt x="3106937" y="0"/>
                  </a:lnTo>
                  <a:lnTo>
                    <a:pt x="310693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D917"/>
            </a:solidFill>
            <a:ln>
              <a:noFill/>
            </a:ln>
          </p:spPr>
        </p:sp>
        <p:sp>
          <p:nvSpPr>
            <p:cNvPr id="112" name="Google Shape;112;p14"/>
            <p:cNvSpPr txBox="1"/>
            <p:nvPr/>
          </p:nvSpPr>
          <p:spPr>
            <a:xfrm>
              <a:off x="0" y="-38100"/>
              <a:ext cx="3106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6 2 2">
  <p:cSld name="OBJECT_6_2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>
            <a:off x="0" y="-3620073"/>
            <a:ext cx="18287998" cy="13907074"/>
            <a:chOff x="0" y="0"/>
            <a:chExt cx="24383997" cy="18542765"/>
          </a:xfrm>
        </p:grpSpPr>
        <p:grpSp>
          <p:nvGrpSpPr>
            <p:cNvPr id="115" name="Google Shape;115;p15"/>
            <p:cNvGrpSpPr/>
            <p:nvPr/>
          </p:nvGrpSpPr>
          <p:grpSpPr>
            <a:xfrm>
              <a:off x="0" y="8457531"/>
              <a:ext cx="24383997" cy="10085234"/>
              <a:chOff x="0" y="0"/>
              <a:chExt cx="4816592" cy="1992145"/>
            </a:xfrm>
          </p:grpSpPr>
          <p:sp>
            <p:nvSpPr>
              <p:cNvPr id="116" name="Google Shape;116;p15"/>
              <p:cNvSpPr/>
              <p:nvPr/>
            </p:nvSpPr>
            <p:spPr>
              <a:xfrm>
                <a:off x="0" y="0"/>
                <a:ext cx="4816592" cy="1992145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992145" extrusionOk="0">
                    <a:moveTo>
                      <a:pt x="2408296" y="0"/>
                    </a:moveTo>
                    <a:lnTo>
                      <a:pt x="4816592" y="1992145"/>
                    </a:lnTo>
                    <a:lnTo>
                      <a:pt x="0" y="1992145"/>
                    </a:lnTo>
                    <a:lnTo>
                      <a:pt x="2408296" y="0"/>
                    </a:lnTo>
                    <a:close/>
                  </a:path>
                </a:pathLst>
              </a:custGeom>
              <a:solidFill>
                <a:srgbClr val="FAD818"/>
              </a:solidFill>
              <a:ln>
                <a:noFill/>
              </a:ln>
            </p:spPr>
          </p:sp>
          <p:sp>
            <p:nvSpPr>
              <p:cNvPr id="117" name="Google Shape;117;p15"/>
              <p:cNvSpPr txBox="1"/>
              <p:nvPr/>
            </p:nvSpPr>
            <p:spPr>
              <a:xfrm>
                <a:off x="752593" y="886824"/>
                <a:ext cx="3311400" cy="96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" name="Google Shape;118;p15"/>
            <p:cNvSpPr/>
            <p:nvPr/>
          </p:nvSpPr>
          <p:spPr>
            <a:xfrm>
              <a:off x="9901481" y="0"/>
              <a:ext cx="4581037" cy="9653527"/>
            </a:xfrm>
            <a:custGeom>
              <a:avLst/>
              <a:gdLst/>
              <a:ahLst/>
              <a:cxnLst/>
              <a:rect l="l" t="t" r="r" b="b"/>
              <a:pathLst>
                <a:path w="4581037" h="9653527" extrusionOk="0">
                  <a:moveTo>
                    <a:pt x="0" y="0"/>
                  </a:moveTo>
                  <a:lnTo>
                    <a:pt x="4581038" y="0"/>
                  </a:lnTo>
                  <a:lnTo>
                    <a:pt x="4581038" y="9653527"/>
                  </a:lnTo>
                  <a:lnTo>
                    <a:pt x="0" y="96535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image" Target="../media/image_dashboard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028700" y="1190625"/>
            <a:ext cx="14987588" cy="1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958634" y="6858000"/>
            <a:ext cx="59864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dirty="0">
                <a:latin typeface="Montserrat" panose="020B0604020202020204" charset="0"/>
              </a:rPr>
              <a:t>By</a:t>
            </a:r>
            <a:r>
              <a:rPr lang="en-US" sz="2400" dirty="0">
                <a:latin typeface="Montserrat" panose="020B0604020202020204" charset="0"/>
              </a:rPr>
              <a:t> : </a:t>
            </a:r>
          </a:p>
          <a:p>
            <a:r>
              <a:rPr lang="en-US" sz="2400" dirty="0">
                <a:latin typeface="Montserrat" panose="020B0604020202020204" charset="0"/>
              </a:rPr>
              <a:t>	</a:t>
            </a:r>
          </a:p>
        </p:txBody>
      </p:sp>
      <p:sp>
        <p:nvSpPr>
          <p:cNvPr id="6" name="Google Shape;155;p19">
            <a:extLst>
              <a:ext uri="{FF2B5EF4-FFF2-40B4-BE49-F238E27FC236}">
                <a16:creationId xmlns:a16="http://schemas.microsoft.com/office/drawing/2014/main" id="{CF40E005-9AB8-4846-8C7F-E631624275C0}"/>
              </a:ext>
            </a:extLst>
          </p:cNvPr>
          <p:cNvSpPr txBox="1"/>
          <p:nvPr/>
        </p:nvSpPr>
        <p:spPr>
          <a:xfrm>
            <a:off x="1371596" y="2582564"/>
            <a:ext cx="169164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80000"/>
              </a:lnSpc>
            </a:pPr>
            <a:r>
              <a:rPr lang="pt-BR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Enterprise Financial Data Platform 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780D12-F890-45FF-9DB0-2F5529E5C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747002"/>
              </p:ext>
            </p:extLst>
          </p:nvPr>
        </p:nvGraphicFramePr>
        <p:xfrm>
          <a:off x="12601576" y="7227332"/>
          <a:ext cx="5529262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8167">
                  <a:extLst>
                    <a:ext uri="{9D8B030D-6E8A-4147-A177-3AD203B41FA5}">
                      <a16:colId xmlns:a16="http://schemas.microsoft.com/office/drawing/2014/main" val="3762638566"/>
                    </a:ext>
                  </a:extLst>
                </a:gridCol>
                <a:gridCol w="2811095">
                  <a:extLst>
                    <a:ext uri="{9D8B030D-6E8A-4147-A177-3AD203B41FA5}">
                      <a16:colId xmlns:a16="http://schemas.microsoft.com/office/drawing/2014/main" val="43504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Avirup</a:t>
                      </a:r>
                      <a:r>
                        <a:rPr lang="en-US" sz="2400" dirty="0"/>
                        <a:t> Das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26MML1005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39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 </a:t>
                      </a:r>
                      <a:r>
                        <a:rPr lang="en-US" sz="2400" dirty="0" err="1"/>
                        <a:t>Alagupandi</a:t>
                      </a:r>
                      <a:r>
                        <a:rPr lang="en-US" sz="2400" dirty="0"/>
                        <a:t>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26MML1013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16023"/>
                  </a:ext>
                </a:extLst>
              </a:tr>
              <a:tr h="290348">
                <a:tc>
                  <a:txBody>
                    <a:bodyPr/>
                    <a:lstStyle/>
                    <a:p>
                      <a:r>
                        <a:rPr lang="en-GB" sz="2400" dirty="0"/>
                        <a:t>Y Aditya Venkat 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26MML1025</a:t>
                      </a:r>
                      <a:endParaRPr lang="en-IN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4040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0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028700" y="1190625"/>
            <a:ext cx="14987588" cy="172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028700" y="3299454"/>
            <a:ext cx="16802101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Building a Unified Insurance Data Platform for Policy, Claims &amp; Risk Analytics</a:t>
            </a:r>
            <a:endParaRPr lang="en-US" sz="2400" b="1" dirty="0">
              <a:latin typeface="Montserrat" panose="020B0604020202020204" charset="0"/>
            </a:endParaRPr>
          </a:p>
          <a:p>
            <a:endParaRPr lang="en-US" sz="2400" b="1" dirty="0">
              <a:latin typeface="Montserrat" panose="020B0604020202020204" charset="0"/>
            </a:endParaRPr>
          </a:p>
          <a:p>
            <a:r>
              <a:rPr lang="en-US" sz="2400" b="1" dirty="0">
                <a:latin typeface="Montserrat" panose="020B0604020202020204" charset="0"/>
              </a:rPr>
              <a:t>Covered Sprints:</a:t>
            </a:r>
            <a:endParaRPr lang="en-US" sz="2400" dirty="0">
              <a:latin typeface="Montserrat" panose="020B0604020202020204" charset="0"/>
            </a:endParaRPr>
          </a:p>
          <a:p>
            <a:r>
              <a:rPr lang="en-US" sz="2400" dirty="0">
                <a:latin typeface="Montserrat" panose="020B0604020202020204" charset="0"/>
              </a:rPr>
              <a:t>Sprint 0 — Project Initiation &amp; Architecture </a:t>
            </a:r>
          </a:p>
          <a:p>
            <a:r>
              <a:rPr lang="en-US" sz="2400" dirty="0">
                <a:latin typeface="Montserrat" panose="020B0604020202020204" charset="0"/>
              </a:rPr>
              <a:t>Sprint 1 — Data Discovery &amp; Ingestion</a:t>
            </a:r>
          </a:p>
          <a:p>
            <a:r>
              <a:rPr lang="en-GB" sz="2400" dirty="0">
                <a:latin typeface="Montserrat" panose="020B0604020202020204" charset="0"/>
              </a:rPr>
              <a:t>Sprint 2 </a:t>
            </a:r>
            <a:r>
              <a:rPr lang="en-US" sz="2400" dirty="0">
                <a:latin typeface="Montserrat" panose="020B0604020202020204" charset="0"/>
              </a:rPr>
              <a:t>—  </a:t>
            </a:r>
            <a:r>
              <a:rPr lang="en-GB" sz="2400" dirty="0">
                <a:latin typeface="Montserrat" panose="020B0604020202020204" charset="0"/>
              </a:rPr>
              <a:t>Data Profiling &amp; Data Warehouse</a:t>
            </a:r>
          </a:p>
          <a:p>
            <a:r>
              <a:rPr lang="en-GB" sz="2400" dirty="0">
                <a:latin typeface="Montserrat" panose="020B0604020202020204" charset="0"/>
              </a:rPr>
              <a:t>Sprint 3 — Visual Analytics &amp; Governance</a:t>
            </a:r>
          </a:p>
          <a:p>
            <a:endParaRPr lang="en-US" sz="2400" dirty="0">
              <a:latin typeface="Montserrat" panose="020B0604020202020204" charset="0"/>
            </a:endParaRPr>
          </a:p>
          <a:p>
            <a:endParaRPr lang="en-US" sz="2400" dirty="0">
              <a:latin typeface="Montserrat" panose="020B0604020202020204" charset="0"/>
            </a:endParaRPr>
          </a:p>
          <a:p>
            <a:r>
              <a:rPr lang="en-GB" sz="2400" dirty="0">
                <a:latin typeface="Montserrat" panose="020B0604020202020204" charset="0"/>
              </a:rPr>
              <a:t>This project focuses on building an enterprise-level financial data platform. The objective is to integrate financial and master data collected from multiple independent enterprise systems and create a unified, curated foundation for financial reporting and analysis.</a:t>
            </a:r>
            <a:endParaRPr lang="en-US" sz="2400" dirty="0">
              <a:latin typeface="Montserrat" panose="020B0604020202020204" charset="0"/>
            </a:endParaRPr>
          </a:p>
        </p:txBody>
      </p:sp>
      <p:sp>
        <p:nvSpPr>
          <p:cNvPr id="6" name="Google Shape;155;p19">
            <a:extLst>
              <a:ext uri="{FF2B5EF4-FFF2-40B4-BE49-F238E27FC236}">
                <a16:creationId xmlns:a16="http://schemas.microsoft.com/office/drawing/2014/main" id="{CF40E005-9AB8-4846-8C7F-E631624275C0}"/>
              </a:ext>
            </a:extLst>
          </p:cNvPr>
          <p:cNvSpPr txBox="1"/>
          <p:nvPr/>
        </p:nvSpPr>
        <p:spPr>
          <a:xfrm>
            <a:off x="1028700" y="804863"/>
            <a:ext cx="169164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pt-BR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Enterprise Financial Data Platform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7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028700" y="1190625"/>
            <a:ext cx="1498758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&amp; Scope</a:t>
            </a:r>
            <a:endParaRPr lang="en-US"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1028700" y="3299454"/>
            <a:ext cx="16802101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Unify Core Data : </a:t>
            </a:r>
            <a:r>
              <a:rPr lang="en-US" sz="2400" dirty="0">
                <a:latin typeface="Montserrat"/>
                <a:ea typeface="Montserrat"/>
                <a:cs typeface="Montserrat"/>
                <a:sym typeface="Montserrat"/>
              </a:rPr>
              <a:t>Integrates disparate systems—policy, claims, CRM, and underwriting—into a single PostgreSQL platform. </a:t>
            </a: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Ensure Governance :</a:t>
            </a:r>
            <a:r>
              <a:rPr lang="en-US" sz="2400" dirty="0">
                <a:latin typeface="Montserrat"/>
                <a:ea typeface="Montserrat"/>
                <a:cs typeface="Montserrat"/>
                <a:sym typeface="Montserrat"/>
              </a:rPr>
              <a:t> Implements built-in metadata, audit logs, and data lineage to track and secure data.  </a:t>
            </a: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Power Analytics &amp; Compliance : </a:t>
            </a:r>
            <a:r>
              <a:rPr lang="en-US" sz="2400" dirty="0">
                <a:latin typeface="Montserrat"/>
                <a:ea typeface="Montserrat"/>
                <a:cs typeface="Montserrat"/>
                <a:sym typeface="Montserrat"/>
              </a:rPr>
              <a:t>Standardizes insurance data to support risk modeling, executive dashboards, and regulatory reporting.  </a:t>
            </a:r>
          </a:p>
          <a:p>
            <a:pPr marL="342900" lvl="0" indent="-3429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/>
                <a:ea typeface="Montserrat"/>
                <a:cs typeface="Montserrat"/>
                <a:sym typeface="Montserrat"/>
              </a:rPr>
              <a:t>Collaborative Foundations : </a:t>
            </a:r>
            <a:r>
              <a:rPr lang="en-US" sz="2400" dirty="0">
                <a:latin typeface="Montserrat"/>
                <a:ea typeface="Montserrat"/>
                <a:cs typeface="Montserrat"/>
                <a:sym typeface="Montserrat"/>
              </a:rPr>
              <a:t>Establishes version control using Git/GitHub and enterprise-level documentation. 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028699" y="1190625"/>
            <a:ext cx="1233011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Technology Stack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85C43F-DF08-42B3-885C-14587B60D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92310"/>
              </p:ext>
            </p:extLst>
          </p:nvPr>
        </p:nvGraphicFramePr>
        <p:xfrm>
          <a:off x="1028699" y="2694578"/>
          <a:ext cx="13373100" cy="58578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3500">
                  <a:extLst>
                    <a:ext uri="{9D8B030D-6E8A-4147-A177-3AD203B41FA5}">
                      <a16:colId xmlns:a16="http://schemas.microsoft.com/office/drawing/2014/main" val="1434335741"/>
                    </a:ext>
                  </a:extLst>
                </a:gridCol>
                <a:gridCol w="3890511">
                  <a:extLst>
                    <a:ext uri="{9D8B030D-6E8A-4147-A177-3AD203B41FA5}">
                      <a16:colId xmlns:a16="http://schemas.microsoft.com/office/drawing/2014/main" val="1107174253"/>
                    </a:ext>
                  </a:extLst>
                </a:gridCol>
                <a:gridCol w="6429089">
                  <a:extLst>
                    <a:ext uri="{9D8B030D-6E8A-4147-A177-3AD203B41FA5}">
                      <a16:colId xmlns:a16="http://schemas.microsoft.com/office/drawing/2014/main" val="1676189657"/>
                    </a:ext>
                  </a:extLst>
                </a:gridCol>
              </a:tblGrid>
              <a:tr h="73223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Montserrat" panose="020B0604020202020204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Montserrat" panose="020B0604020202020204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Montserrat" panose="020B0604020202020204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9171856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ETL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Pentaho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Data ingestion and ETL transformations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898007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Montserrat" panose="020B0604020202020204" charset="0"/>
                        </a:rPr>
                        <a:t>Staging and enterprise data storage</a:t>
                      </a:r>
                      <a:endParaRPr lang="en-IN" sz="1800" dirty="0">
                        <a:latin typeface="Montserrat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109225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Python / 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Data processing and profiling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023695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Git / 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Collaboration and version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095754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Business dashboards and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578480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Markdown / MS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Technical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955111"/>
                  </a:ext>
                </a:extLst>
              </a:tr>
              <a:tr h="732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Agile Scrum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Montserrat" panose="020B0604020202020204" charset="0"/>
                        </a:rPr>
                        <a:t>Sprint-based project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297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00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3000" y="776288"/>
            <a:ext cx="1498758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Roadmap</a:t>
            </a:r>
            <a:endParaRPr lang="en-US"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1028700" y="2413629"/>
            <a:ext cx="16802101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b="1" dirty="0">
                <a:latin typeface="Montserrat" panose="020B0604020202020204" charset="0"/>
              </a:rPr>
              <a:t>Sprint 0 — Project Initiation &amp; Architecture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Understand business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Identify stakeholders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Identify enterprise data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Define project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Design solution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Set up the Git repository</a:t>
            </a:r>
          </a:p>
          <a:p>
            <a:endParaRPr lang="en-IN" sz="2400" dirty="0">
              <a:latin typeface="Montserrat" panose="020B0604020202020204" charset="0"/>
            </a:endParaRPr>
          </a:p>
          <a:p>
            <a:r>
              <a:rPr lang="en-IN" sz="2400" b="1" dirty="0">
                <a:latin typeface="Montserrat" panose="020B0604020202020204" charset="0"/>
              </a:rPr>
              <a:t>Sprint 1 — Data Discovery &amp; Ingestion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Analyze</a:t>
            </a:r>
            <a:r>
              <a:rPr lang="en-IN" sz="2400" dirty="0">
                <a:latin typeface="Montserrat" panose="020B0604020202020204" charset="0"/>
              </a:rPr>
              <a:t> source systems across finance domains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Prepare the Data Dictionary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Develop Pentaho ingestion pipelines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Load raw data into PostgreSQL staging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Implement logging and exception handling</a:t>
            </a:r>
          </a:p>
        </p:txBody>
      </p:sp>
    </p:spTree>
    <p:extLst>
      <p:ext uri="{BB962C8B-B14F-4D97-AF65-F5344CB8AC3E}">
        <p14:creationId xmlns:p14="http://schemas.microsoft.com/office/powerpoint/2010/main" val="4231955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3000" y="776288"/>
            <a:ext cx="1498758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Roadmap</a:t>
            </a:r>
            <a:endParaRPr lang="en-US"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1028700" y="2413629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Sprint 2 </a:t>
            </a:r>
            <a:r>
              <a:rPr lang="en-IN" sz="2400" b="1" dirty="0">
                <a:latin typeface="Montserrat" panose="020B0604020202020204" charset="0"/>
              </a:rPr>
              <a:t>— </a:t>
            </a:r>
            <a:r>
              <a:rPr lang="en-GB" sz="2400" b="1" dirty="0">
                <a:latin typeface="Montserrat" panose="020B0604020202020204" charset="0"/>
              </a:rPr>
              <a:t>Data Profiling and Data Warehouse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Profile the ten staging tables using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Assess data quality: duplicates, missing entries, inconsistent balances and master data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Clean and standardize financial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Design the star schema and create fact and dimension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Populate the warehouse tables</a:t>
            </a:r>
          </a:p>
        </p:txBody>
      </p:sp>
    </p:spTree>
    <p:extLst>
      <p:ext uri="{BB962C8B-B14F-4D97-AF65-F5344CB8AC3E}">
        <p14:creationId xmlns:p14="http://schemas.microsoft.com/office/powerpoint/2010/main" val="45201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3000" y="776288"/>
            <a:ext cx="1498758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US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Roadmap</a:t>
            </a:r>
            <a:endParaRPr lang="en-US"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1028700" y="2413629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Sprint 3 — Visual Analytics &amp; Governance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Connect Power BI to the PostgreSQL star schema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Build the EFDP dashboard: KPIs, trends and breakdowns by G/L account and company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Add interactive filtering with a company code slicer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Review dashboard totals against the staging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Document governance and traceability controls</a:t>
            </a:r>
          </a:p>
        </p:txBody>
      </p:sp>
    </p:spTree>
    <p:extLst>
      <p:ext uri="{BB962C8B-B14F-4D97-AF65-F5344CB8AC3E}">
        <p14:creationId xmlns:p14="http://schemas.microsoft.com/office/powerpoint/2010/main" val="61707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80210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0: Business Analysis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Objective:</a:t>
            </a:r>
            <a:r>
              <a:rPr lang="en-GB" sz="2400" dirty="0">
                <a:latin typeface="Montserrat" panose="020B0604020202020204" charset="0"/>
              </a:rPr>
              <a:t> Understand the enterprise finance ecosystem and design the Enterprise Financial Data Platform before development begins.</a:t>
            </a:r>
          </a:p>
          <a:p>
            <a:endParaRPr lang="en-GB" sz="2400" dirty="0">
              <a:latin typeface="Montserrat" panose="020B0604020202020204" charset="0"/>
            </a:endParaRPr>
          </a:p>
          <a:p>
            <a:r>
              <a:rPr lang="en-GB" sz="2400" b="1" dirty="0">
                <a:latin typeface="Montserrat" panose="020B0604020202020204" charset="0"/>
              </a:rPr>
              <a:t>Key Activities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Study enterprise finance processes and the broader ERP landscape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Identify business stakeholders and financial reporting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Prepare the Business Requirements Document (BRD)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Identify financial and master data sources across the organization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Define project scope, objectives and success criteria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Design the high-level Financial Data Platform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7635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0: Project Setup &amp; Deliverables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4801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Project Setup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Create Git repository and enterprise repository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Prepare the Sprint Backlog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Design the Solution Architecture (layered Bronze/Silver/Gold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Prepare the Project Charter</a:t>
            </a:r>
          </a:p>
          <a:p>
            <a:endParaRPr lang="en-GB" sz="2400" dirty="0">
              <a:latin typeface="Montserrat" panose="020B0604020202020204" charset="0"/>
            </a:endParaRPr>
          </a:p>
          <a:p>
            <a:r>
              <a:rPr lang="en-GB" sz="2400" b="1" dirty="0">
                <a:latin typeface="Montserrat" panose="020B0604020202020204" charset="0"/>
              </a:rPr>
              <a:t>Sprint 0 Deliverables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Business Requirements Document (BRD)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Solution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Git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Sprint Backlog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Project Charter</a:t>
            </a:r>
          </a:p>
          <a:p>
            <a:endParaRPr lang="en-IN" sz="24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12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1: Data Discovery &amp; Ingestion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Objective :</a:t>
            </a:r>
            <a:r>
              <a:rPr lang="en-GB" sz="2400" dirty="0">
                <a:latin typeface="Montserrat" panose="020B0604020202020204" charset="0"/>
              </a:rPr>
              <a:t> Build the Financial Data Landing Zone by integrating heterogeneous financial and master data collected from multiple enterprise systems, and loading raw data into PostgreSQL staging.</a:t>
            </a:r>
          </a:p>
          <a:p>
            <a:endParaRPr lang="en-GB" sz="2400" b="1" dirty="0">
              <a:latin typeface="Montserrat" panose="020B0604020202020204" charset="0"/>
            </a:endParaRPr>
          </a:p>
          <a:p>
            <a:r>
              <a:rPr lang="en-GB" sz="2400" b="1" dirty="0">
                <a:latin typeface="Montserrat" panose="020B0604020202020204" charset="0"/>
              </a:rPr>
              <a:t>Key Activities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Prepare the Data Dictionary with field descriptions, data types and 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Validate business keys and relationships across source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Build Pentaho transformations for the supplied source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Load raw data into PostgreSQL staging tables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Commit successful ingestion pipelines to GitHub</a:t>
            </a:r>
          </a:p>
        </p:txBody>
      </p:sp>
    </p:spTree>
    <p:extLst>
      <p:ext uri="{BB962C8B-B14F-4D97-AF65-F5344CB8AC3E}">
        <p14:creationId xmlns:p14="http://schemas.microsoft.com/office/powerpoint/2010/main" val="420158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1: Data Formats &amp; ETL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IN" sz="2400" b="1" dirty="0"/>
          </a:p>
          <a:p>
            <a:r>
              <a:rPr lang="en-IN" sz="2400" b="1" dirty="0"/>
              <a:t>Supported Data Formats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JSON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XML</a:t>
            </a:r>
          </a:p>
          <a:p>
            <a:endParaRPr lang="en-IN" sz="2400" dirty="0"/>
          </a:p>
          <a:p>
            <a:r>
              <a:rPr lang="en-IN" sz="2400" b="1" dirty="0"/>
              <a:t>ETL Process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Extract</a:t>
            </a:r>
            <a:r>
              <a:rPr lang="en-IN" sz="2400" dirty="0"/>
              <a:t> — Retrieve data from the different enterprise source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Transform</a:t>
            </a:r>
            <a:r>
              <a:rPr lang="en-IN" sz="2400" dirty="0"/>
              <a:t> — Use Pentaho transformations to prepare incoming data for staging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Load</a:t>
            </a:r>
            <a:r>
              <a:rPr lang="en-IN" sz="2400" dirty="0"/>
              <a:t> — Load the raw financial and master data into PostgreSQL staging tables</a:t>
            </a:r>
          </a:p>
        </p:txBody>
      </p:sp>
    </p:spTree>
    <p:extLst>
      <p:ext uri="{BB962C8B-B14F-4D97-AF65-F5344CB8AC3E}">
        <p14:creationId xmlns:p14="http://schemas.microsoft.com/office/powerpoint/2010/main" val="315569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1 : Deliverables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Sprint 1 Deliverables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Montserrat" panose="020B0604020202020204" charset="0"/>
              </a:rPr>
              <a:t>Source Inventory </a:t>
            </a:r>
            <a:r>
              <a:rPr lang="en-IN" sz="2400" dirty="0">
                <a:latin typeface="Montserrat" panose="020B0604020202020204" charset="0"/>
              </a:rPr>
              <a:t>— A documented list of the financial and master data sources identified during discovery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Montserrat" panose="020B0604020202020204" charset="0"/>
              </a:rPr>
              <a:t>Data Dictionary </a:t>
            </a:r>
            <a:r>
              <a:rPr lang="en-IN" sz="2400" dirty="0">
                <a:latin typeface="Montserrat" panose="020B0604020202020204" charset="0"/>
              </a:rPr>
              <a:t>— A structured description of available fields, data types and 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Montserrat" panose="020B0604020202020204" charset="0"/>
              </a:rPr>
              <a:t>Pentaho ETL Pipelines </a:t>
            </a:r>
            <a:r>
              <a:rPr lang="en-IN" sz="2400" dirty="0">
                <a:latin typeface="Montserrat" panose="020B0604020202020204" charset="0"/>
              </a:rPr>
              <a:t>— Transformations built to ingest data from multiple source systems and formats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Montserrat" panose="020B0604020202020204" charset="0"/>
              </a:rPr>
              <a:t>PostgreSQL Staging Database </a:t>
            </a:r>
            <a:r>
              <a:rPr lang="en-IN" sz="2400" dirty="0">
                <a:latin typeface="Montserrat" panose="020B0604020202020204" charset="0"/>
              </a:rPr>
              <a:t>— Staging tables containing the ingested raw financial and master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Montserrat" panose="020B0604020202020204" charset="0"/>
              </a:rPr>
              <a:t>Git Commit History </a:t>
            </a:r>
            <a:r>
              <a:rPr lang="en-IN" sz="2400" dirty="0">
                <a:latin typeface="Montserrat" panose="020B0604020202020204" charset="0"/>
              </a:rPr>
              <a:t>— Version-controlled history of ingestion code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513582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1 :Data </a:t>
            </a:r>
            <a:r>
              <a:rPr lang="en-GB" sz="9000" dirty="0" err="1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Dictonary</a:t>
            </a: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dirty="0">
                <a:latin typeface="Montserrat" panose="020B0604020202020204" charset="0"/>
              </a:rPr>
              <a:t>The dictionary covers the following 10 staging tables:</a:t>
            </a:r>
          </a:p>
          <a:p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latin typeface="Montserrat" panose="020B0604020202020204" charset="0"/>
              </a:rPr>
              <a:t>stg_bkpf</a:t>
            </a:r>
            <a:r>
              <a:rPr lang="en-GB" sz="2400" dirty="0">
                <a:latin typeface="Montserrat" panose="020B0604020202020204" charset="0"/>
              </a:rPr>
              <a:t> – Accounting Document 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latin typeface="Montserrat" panose="020B0604020202020204" charset="0"/>
              </a:rPr>
              <a:t>stg_bseg</a:t>
            </a:r>
            <a:r>
              <a:rPr lang="en-GB" sz="2400" dirty="0">
                <a:latin typeface="Montserrat" panose="020B0604020202020204" charset="0"/>
              </a:rPr>
              <a:t> – Accounting Document Line Items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latin typeface="Montserrat" panose="020B0604020202020204" charset="0"/>
              </a:rPr>
              <a:t>stg_csks</a:t>
            </a:r>
            <a:r>
              <a:rPr lang="en-GB" sz="2400" dirty="0">
                <a:latin typeface="Montserrat" panose="020B0604020202020204" charset="0"/>
              </a:rPr>
              <a:t> – Cost </a:t>
            </a:r>
            <a:r>
              <a:rPr lang="en-GB" sz="2400" dirty="0" err="1">
                <a:latin typeface="Montserrat" panose="020B0604020202020204" charset="0"/>
              </a:rPr>
              <a:t>Center</a:t>
            </a:r>
            <a:r>
              <a:rPr lang="en-GB" sz="2400" dirty="0">
                <a:latin typeface="Montserrat" panose="020B0604020202020204" charset="0"/>
              </a:rPr>
              <a:t> Master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latin typeface="Montserrat" panose="020B0604020202020204" charset="0"/>
              </a:rPr>
              <a:t>stg_cskt</a:t>
            </a:r>
            <a:r>
              <a:rPr lang="en-GB" sz="2400" dirty="0">
                <a:latin typeface="Montserrat" panose="020B0604020202020204" charset="0"/>
              </a:rPr>
              <a:t> – Cost </a:t>
            </a:r>
            <a:r>
              <a:rPr lang="en-GB" sz="2400" dirty="0" err="1">
                <a:latin typeface="Montserrat" panose="020B0604020202020204" charset="0"/>
              </a:rPr>
              <a:t>Center</a:t>
            </a:r>
            <a:r>
              <a:rPr lang="en-GB" sz="2400" dirty="0">
                <a:latin typeface="Montserrat" panose="020B0604020202020204" charset="0"/>
              </a:rPr>
              <a:t> Texts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stg_kna1</a:t>
            </a:r>
            <a:r>
              <a:rPr lang="en-GB" sz="2400" dirty="0">
                <a:latin typeface="Montserrat" panose="020B0604020202020204" charset="0"/>
              </a:rPr>
              <a:t> – Customer Master General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stg_lfa1</a:t>
            </a:r>
            <a:r>
              <a:rPr lang="en-GB" sz="2400" dirty="0">
                <a:latin typeface="Montserrat" panose="020B0604020202020204" charset="0"/>
              </a:rPr>
              <a:t> – Vendor Master General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stg_ska1</a:t>
            </a:r>
            <a:r>
              <a:rPr lang="en-GB" sz="2400" dirty="0">
                <a:latin typeface="Montserrat" panose="020B0604020202020204" charset="0"/>
              </a:rPr>
              <a:t> – G/L Account Master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 err="1">
                <a:latin typeface="Montserrat" panose="020B0604020202020204" charset="0"/>
              </a:rPr>
              <a:t>stg_skat</a:t>
            </a:r>
            <a:r>
              <a:rPr lang="en-GB" sz="2400" dirty="0">
                <a:latin typeface="Montserrat" panose="020B0604020202020204" charset="0"/>
              </a:rPr>
              <a:t> – G/L Account Texts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stg_t001</a:t>
            </a:r>
            <a:r>
              <a:rPr lang="en-GB" sz="2400" dirty="0">
                <a:latin typeface="Montserrat" panose="020B0604020202020204" charset="0"/>
              </a:rPr>
              <a:t> – Company Code Master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stg_t002</a:t>
            </a:r>
            <a:r>
              <a:rPr lang="en-GB" sz="2400" dirty="0">
                <a:latin typeface="Montserrat" panose="020B0604020202020204" charset="0"/>
              </a:rPr>
              <a:t> – SAP System Languages</a:t>
            </a:r>
            <a:endParaRPr lang="en-IN" sz="24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655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1 :Pentaho ETL Pipelines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70D188-5327-41AD-B88E-E95352EA6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664" y="2860431"/>
            <a:ext cx="11065844" cy="576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99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2: Data Profiling &amp; Data Warehouse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Objective :</a:t>
            </a:r>
            <a:r>
              <a:rPr lang="en-GB" sz="2400" dirty="0">
                <a:latin typeface="Montserrat" panose="020B0604020202020204" charset="0"/>
              </a:rPr>
              <a:t> Transform the raw financial data in the PostgreSQL staging layer into trusted, analytics-ready datasets. This is done by profiling and quality-checking the ten SAP staging tables, then designing and building a star schema data warehouse</a:t>
            </a:r>
          </a:p>
          <a:p>
            <a:endParaRPr lang="en-GB" sz="2400" b="1" dirty="0">
              <a:latin typeface="Montserrat" panose="020B0604020202020204" charset="0"/>
            </a:endParaRPr>
          </a:p>
          <a:p>
            <a:r>
              <a:rPr lang="en-GB" sz="2400" b="1" dirty="0">
                <a:latin typeface="Montserrat" panose="020B0604020202020204" charset="0"/>
              </a:rPr>
              <a:t>Key Activities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Profile the financial datasets using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Identify duplicate financial transactions, missing accounting entries, inconsistent ledger balances and master data quality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Clean and standardize the financial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Design the star schema.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Create the fact and dimension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Build Pentaho transformations to populate the warehouse tables</a:t>
            </a:r>
          </a:p>
        </p:txBody>
      </p:sp>
    </p:spTree>
    <p:extLst>
      <p:ext uri="{BB962C8B-B14F-4D97-AF65-F5344CB8AC3E}">
        <p14:creationId xmlns:p14="http://schemas.microsoft.com/office/powerpoint/2010/main" val="6454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2: Process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Profile: </a:t>
            </a:r>
            <a:r>
              <a:rPr lang="en-GB" sz="2400" dirty="0">
                <a:latin typeface="Montserrat" panose="020B0604020202020204" charset="0"/>
              </a:rPr>
              <a:t>Read-only checks on every table. These cover column types, row counts, NULLs and blanks, exact duplicate rows and numeric statistics</a:t>
            </a:r>
            <a:r>
              <a:rPr lang="en-GB" sz="2400" b="1" dirty="0">
                <a:latin typeface="Montserrat" panose="020B060402020202020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Assess quality: </a:t>
            </a:r>
            <a:r>
              <a:rPr lang="en-GB" sz="2400" dirty="0">
                <a:latin typeface="Montserrat" panose="020B0604020202020204" charset="0"/>
              </a:rPr>
              <a:t>Score each table on completeness, uniqueness, validity and consistency. Rate each failed rule Low (under 1% of rows affected), Medium (1 to 5%) or High (over 5%).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Clean and standardize: </a:t>
            </a:r>
            <a:r>
              <a:rPr lang="en-GB" sz="2400" dirty="0">
                <a:latin typeface="Montserrat" panose="020B0604020202020204" charset="0"/>
              </a:rPr>
              <a:t>Apply agreed rules to a separate cleaned dataset. The staging tables are not changed</a:t>
            </a:r>
            <a:r>
              <a:rPr lang="en-GB" sz="2400" b="1" dirty="0">
                <a:latin typeface="Montserrat" panose="020B060402020202020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Model</a:t>
            </a:r>
            <a:r>
              <a:rPr lang="en-GB" sz="2400" dirty="0">
                <a:latin typeface="Montserrat" panose="020B0604020202020204" charset="0"/>
              </a:rPr>
              <a:t>: One fact table (</a:t>
            </a:r>
            <a:r>
              <a:rPr lang="en-GB" sz="2400" dirty="0" err="1">
                <a:latin typeface="Montserrat" panose="020B0604020202020204" charset="0"/>
              </a:rPr>
              <a:t>fact_accounting_line_item</a:t>
            </a:r>
            <a:r>
              <a:rPr lang="en-GB" sz="2400" dirty="0">
                <a:latin typeface="Montserrat" panose="020B0604020202020204" charset="0"/>
              </a:rPr>
              <a:t>) and its dimensions.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Load: </a:t>
            </a:r>
            <a:r>
              <a:rPr lang="en-GB" sz="2400" dirty="0">
                <a:latin typeface="Montserrat" panose="020B0604020202020204" charset="0"/>
              </a:rPr>
              <a:t>load the dimensions first, then the fact table, and reconcile row counts.</a:t>
            </a:r>
            <a:endParaRPr lang="en-IN" sz="24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317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2:Data Profiling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Montserr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99351-D8A4-4F3B-AC59-32933A54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043917"/>
            <a:ext cx="13426439" cy="642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7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2:Data Profiling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Montserrat" panose="020B060402020202020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D5CB01-32F9-4337-8805-6C122E0E2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669213"/>
            <a:ext cx="14173028" cy="588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45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2: Star Schema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568337-8E76-48D3-9C6D-B34F5E899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297" y="1728312"/>
            <a:ext cx="6429375" cy="6830375"/>
          </a:xfrm>
          <a:prstGeom prst="rect">
            <a:avLst/>
          </a:prstGeom>
        </p:spPr>
      </p:pic>
      <p:sp>
        <p:nvSpPr>
          <p:cNvPr id="5" name="Google Shape;156;p19">
            <a:extLst>
              <a:ext uri="{FF2B5EF4-FFF2-40B4-BE49-F238E27FC236}">
                <a16:creationId xmlns:a16="http://schemas.microsoft.com/office/drawing/2014/main" id="{14D7D168-AE97-434A-95FB-6864EB3ABFE8}"/>
              </a:ext>
            </a:extLst>
          </p:cNvPr>
          <p:cNvSpPr txBox="1"/>
          <p:nvPr/>
        </p:nvSpPr>
        <p:spPr>
          <a:xfrm>
            <a:off x="1142999" y="2742842"/>
            <a:ext cx="7442705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Fact Table:</a:t>
            </a:r>
          </a:p>
          <a:p>
            <a:endParaRPr lang="en-GB" sz="2400" b="1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fact_accounting_line_item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Montserrat" panose="020B0604020202020204" charset="0"/>
            </a:endParaRPr>
          </a:p>
          <a:p>
            <a:r>
              <a:rPr lang="en-IN" sz="2400" b="1" dirty="0">
                <a:latin typeface="Montserrat" panose="020B0604020202020204" charset="0"/>
              </a:rPr>
              <a:t>Dimension Table :</a:t>
            </a:r>
          </a:p>
          <a:p>
            <a:endParaRPr lang="en-IN" sz="2400" b="1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dim_accounting_document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dim_company_code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dim_gl_account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dim cost </a:t>
            </a:r>
            <a:r>
              <a:rPr lang="en-IN" sz="2400" dirty="0" err="1">
                <a:latin typeface="Montserrat" panose="020B0604020202020204" charset="0"/>
              </a:rPr>
              <a:t>center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dim_customer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dim vendor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Montserrat" panose="020B0604020202020204" charset="0"/>
              </a:rPr>
              <a:t>dim_language</a:t>
            </a:r>
            <a:endParaRPr lang="en-IN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Montserrat" panose="020B0604020202020204" charset="0"/>
              </a:rPr>
              <a:t>dim date </a:t>
            </a:r>
          </a:p>
        </p:txBody>
      </p:sp>
    </p:spTree>
    <p:extLst>
      <p:ext uri="{BB962C8B-B14F-4D97-AF65-F5344CB8AC3E}">
        <p14:creationId xmlns:p14="http://schemas.microsoft.com/office/powerpoint/2010/main" val="495812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2 : Deliverables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Sprint 2 deliverables</a:t>
            </a:r>
            <a:endParaRPr lang="en-GB" sz="2400" dirty="0">
              <a:latin typeface="Montserrat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Data Profiling Report:</a:t>
            </a:r>
            <a:r>
              <a:rPr lang="en-GB" sz="2400" dirty="0">
                <a:latin typeface="Montserrat" panose="020B0604020202020204" charset="0"/>
              </a:rPr>
              <a:t> Structure, completeness and duplication of the ten staging tables.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Data Quality Report:</a:t>
            </a:r>
            <a:r>
              <a:rPr lang="en-GB" sz="2400" dirty="0">
                <a:latin typeface="Montserrat" panose="020B0604020202020204" charset="0"/>
              </a:rPr>
              <a:t> Rule-based scores and severity per table, priority issues and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Star Schema:</a:t>
            </a:r>
            <a:r>
              <a:rPr lang="en-GB" sz="2400" dirty="0">
                <a:latin typeface="Montserrat" panose="020B0604020202020204" charset="0"/>
              </a:rPr>
              <a:t> The fact and dimension model and the staging-to-warehouse name mapping.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PostgreSQL Data Warehouse:</a:t>
            </a:r>
            <a:r>
              <a:rPr lang="en-GB" sz="2400" dirty="0">
                <a:latin typeface="Montserrat" panose="020B0604020202020204" charset="0"/>
              </a:rPr>
              <a:t> Fact and dimension tables populated by transfer the data form staging table.</a:t>
            </a:r>
          </a:p>
        </p:txBody>
      </p:sp>
    </p:spTree>
    <p:extLst>
      <p:ext uri="{BB962C8B-B14F-4D97-AF65-F5344CB8AC3E}">
        <p14:creationId xmlns:p14="http://schemas.microsoft.com/office/powerpoint/2010/main" val="2205696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28"/>
          <p:cNvGrpSpPr/>
          <p:nvPr/>
        </p:nvGrpSpPr>
        <p:grpSpPr>
          <a:xfrm>
            <a:off x="0" y="-3620073"/>
            <a:ext cx="18287996" cy="13907073"/>
            <a:chOff x="0" y="0"/>
            <a:chExt cx="24383995" cy="18542764"/>
          </a:xfrm>
        </p:grpSpPr>
        <p:grpSp>
          <p:nvGrpSpPr>
            <p:cNvPr id="304" name="Google Shape;304;p28"/>
            <p:cNvGrpSpPr/>
            <p:nvPr/>
          </p:nvGrpSpPr>
          <p:grpSpPr>
            <a:xfrm>
              <a:off x="0" y="8457531"/>
              <a:ext cx="24383995" cy="10085233"/>
              <a:chOff x="0" y="0"/>
              <a:chExt cx="4816592" cy="1992145"/>
            </a:xfrm>
          </p:grpSpPr>
          <p:sp>
            <p:nvSpPr>
              <p:cNvPr id="305" name="Google Shape;305;p28"/>
              <p:cNvSpPr/>
              <p:nvPr/>
            </p:nvSpPr>
            <p:spPr>
              <a:xfrm>
                <a:off x="0" y="0"/>
                <a:ext cx="4816592" cy="1992145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1992145" extrusionOk="0">
                    <a:moveTo>
                      <a:pt x="2408296" y="0"/>
                    </a:moveTo>
                    <a:lnTo>
                      <a:pt x="4816592" y="1992145"/>
                    </a:lnTo>
                    <a:lnTo>
                      <a:pt x="0" y="1992145"/>
                    </a:lnTo>
                    <a:lnTo>
                      <a:pt x="2408296" y="0"/>
                    </a:lnTo>
                    <a:close/>
                  </a:path>
                </a:pathLst>
              </a:custGeom>
              <a:solidFill>
                <a:srgbClr val="FAD818"/>
              </a:solidFill>
              <a:ln>
                <a:noFill/>
              </a:ln>
            </p:spPr>
          </p:sp>
          <p:sp>
            <p:nvSpPr>
              <p:cNvPr id="306" name="Google Shape;306;p28"/>
              <p:cNvSpPr txBox="1"/>
              <p:nvPr/>
            </p:nvSpPr>
            <p:spPr>
              <a:xfrm>
                <a:off x="752593" y="886824"/>
                <a:ext cx="3311407" cy="9630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7" name="Google Shape;307;p28"/>
            <p:cNvSpPr/>
            <p:nvPr/>
          </p:nvSpPr>
          <p:spPr>
            <a:xfrm>
              <a:off x="9901481" y="0"/>
              <a:ext cx="4581037" cy="9653527"/>
            </a:xfrm>
            <a:custGeom>
              <a:avLst/>
              <a:gdLst/>
              <a:ahLst/>
              <a:cxnLst/>
              <a:rect l="l" t="t" r="r" b="b"/>
              <a:pathLst>
                <a:path w="4581037" h="9653527" extrusionOk="0">
                  <a:moveTo>
                    <a:pt x="0" y="0"/>
                  </a:moveTo>
                  <a:lnTo>
                    <a:pt x="4581038" y="0"/>
                  </a:lnTo>
                  <a:lnTo>
                    <a:pt x="4581038" y="9653527"/>
                  </a:lnTo>
                  <a:lnTo>
                    <a:pt x="0" y="96535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308" name="Google Shape;308;p28"/>
          <p:cNvSpPr txBox="1"/>
          <p:nvPr/>
        </p:nvSpPr>
        <p:spPr>
          <a:xfrm>
            <a:off x="4538006" y="5880101"/>
            <a:ext cx="9212100" cy="3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9" b="0" i="0" u="none" strike="noStrike" cap="none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9" b="0" i="0" u="none" strike="noStrike" cap="none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YOU!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3: Visual Analytics &amp; Governance</a:t>
            </a: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lvl="0">
              <a:lnSpc>
                <a:spcPct val="80000"/>
              </a:lnSpc>
            </a:pPr>
            <a:endParaRPr lang="en-GB" sz="9000" dirty="0">
              <a:solidFill>
                <a:srgbClr val="0457A8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Objective :</a:t>
            </a:r>
            <a:r>
              <a:rPr lang="en-GB" sz="2400" dirty="0">
                <a:latin typeface="Montserrat" panose="020B0604020202020204" charset="0"/>
              </a:rPr>
              <a:t> Turn the star-schema warehouse into business-ready reporting by building the EFDP Power BI dashboard on the PostgreSQL warehouse, and by documenting the governance and traceability controls of the platform.</a:t>
            </a:r>
          </a:p>
          <a:p>
            <a:endParaRPr lang="en-GB" sz="2400" dirty="0">
              <a:latin typeface="Montserrat" panose="020B0604020202020204" charset="0"/>
            </a:endParaRPr>
          </a:p>
          <a:p>
            <a:r>
              <a:rPr lang="en-GB" sz="2400" b="1" dirty="0">
                <a:latin typeface="Montserrat" panose="020B0604020202020204" charset="0"/>
              </a:rPr>
              <a:t>Key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Connect Power BI to the warehouse star schema.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Import the fact table and dimensions and define their relationships.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Build KPI cards, trend and breakdown visuals, and a company code slicer.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Review dashboard totals against the staging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Montserrat" panose="020B0604020202020204" charset="0"/>
              </a:rPr>
              <a:t>Document governance and traceability controls.</a:t>
            </a:r>
          </a:p>
        </p:txBody>
      </p:sp>
    </p:spTree>
    <p:extLst>
      <p:ext uri="{BB962C8B-B14F-4D97-AF65-F5344CB8AC3E}">
        <p14:creationId xmlns:p14="http://schemas.microsoft.com/office/powerpoint/2010/main" val="6454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3: Process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Connect: </a:t>
            </a:r>
            <a:r>
              <a:rPr lang="en-GB" sz="2400" dirty="0">
                <a:latin typeface="Montserrat" panose="020B0604020202020204" charset="0"/>
              </a:rPr>
              <a:t>Power BI reads the fact_accounting_line_item table and its dimensions from the PostgreSQL warehouse (schema dwh).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Model: </a:t>
            </a:r>
            <a:r>
              <a:rPr lang="en-GB" sz="2400" dirty="0">
                <a:latin typeface="Montserrat" panose="020B0604020202020204" charset="0"/>
              </a:rPr>
              <a:t>Relationships follow the surrogate keys of the star schema, so one filter reaches every visual.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Visualize: </a:t>
            </a:r>
            <a:r>
              <a:rPr lang="en-GB" sz="2400" dirty="0">
                <a:latin typeface="Montserrat" panose="020B0604020202020204" charset="0"/>
              </a:rPr>
              <a:t>KPI cards for line items, total debit, total credit and net debit balance; charts by year and quarter, G/L account and company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Filter: </a:t>
            </a:r>
            <a:r>
              <a:rPr lang="en-GB" sz="2400" dirty="0">
                <a:latin typeface="Montserrat" panose="020B0604020202020204" charset="0"/>
              </a:rPr>
              <a:t>A company_code slicer (C001 to C005, EU01, USA1) re-cuts every visual at once.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Validate: </a:t>
            </a:r>
            <a:r>
              <a:rPr lang="en-GB" sz="2400" dirty="0">
                <a:latin typeface="Montserrat" panose="020B0604020202020204" charset="0"/>
              </a:rPr>
              <a:t>Compare dashboard totals with staging counts and flag unusually large amounts for finance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Govern: </a:t>
            </a:r>
            <a:r>
              <a:rPr lang="en-GB" sz="2400" dirty="0">
                <a:latin typeface="Montserrat" panose="020B0604020202020204" charset="0"/>
              </a:rPr>
              <a:t>Keep the data dictionary, source-to-warehouse mapping, quality findings and load controls together under Git.</a:t>
            </a:r>
          </a:p>
        </p:txBody>
      </p:sp>
    </p:spTree>
    <p:extLst>
      <p:ext uri="{BB962C8B-B14F-4D97-AF65-F5344CB8AC3E}">
        <p14:creationId xmlns:p14="http://schemas.microsoft.com/office/powerpoint/2010/main" val="2205696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3: EFDP Dashboard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IN" sz="2400" dirty="0">
              <a:latin typeface="Montserrat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899351-D8A4-4F3B-AC59-32933A54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000" y="2043917"/>
            <a:ext cx="11552000" cy="650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7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3: Dashboard Insights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Key figures: </a:t>
            </a:r>
            <a:r>
              <a:rPr lang="en-GB" sz="2400" dirty="0">
                <a:latin typeface="Montserrat" panose="020B0604020202020204" charset="0"/>
              </a:rPr>
              <a:t>332K line items, 2.46T total debit, 2.46T total credit and a net debit balance of 746.11K.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Balanced books: </a:t>
            </a:r>
            <a:r>
              <a:rPr lang="en-GB" sz="2400" dirty="0">
                <a:latin typeface="Montserrat" panose="020B0604020202020204" charset="0"/>
              </a:rPr>
              <a:t>Debit and credit totals match, so the net balance is about 0.00003% of total debit.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Volume matches staging: </a:t>
            </a:r>
            <a:r>
              <a:rPr lang="en-GB" sz="2400" dirty="0">
                <a:latin typeface="Montserrat" panose="020B0604020202020204" charset="0"/>
              </a:rPr>
              <a:t>332K line items agrees with the 332,106 rows of stg_bseg.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Trend: </a:t>
            </a:r>
            <a:r>
              <a:rPr lang="en-GB" sz="2400" dirty="0">
                <a:latin typeface="Montserrat" panose="020B0604020202020204" charset="0"/>
              </a:rPr>
              <a:t>Activity is small from 2018 to 2021 and peaks in 2022 Q2.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Concentration: </a:t>
            </a:r>
            <a:r>
              <a:rPr lang="en-GB" sz="2400" dirty="0">
                <a:latin typeface="Montserrat" panose="020B0604020202020204" charset="0"/>
              </a:rPr>
              <a:t>EU01 and USA1 carry almost all debit; G/L accounts 300000 and 399999 are the largest.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Caution: </a:t>
            </a:r>
            <a:r>
              <a:rPr lang="en-GB" sz="2400" dirty="0">
                <a:latin typeface="Montserrat" panose="020B0604020202020204" charset="0"/>
              </a:rPr>
              <a:t>Very large BSEG amounts (up to about 98.98 billion) drive the totals and need finance review.</a:t>
            </a:r>
          </a:p>
        </p:txBody>
      </p:sp>
    </p:spTree>
    <p:extLst>
      <p:ext uri="{BB962C8B-B14F-4D97-AF65-F5344CB8AC3E}">
        <p14:creationId xmlns:p14="http://schemas.microsoft.com/office/powerpoint/2010/main" val="2205696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/>
          <p:nvPr/>
        </p:nvSpPr>
        <p:spPr>
          <a:xfrm>
            <a:off x="0" y="8948408"/>
            <a:ext cx="18287996" cy="1338592"/>
          </a:xfrm>
          <a:custGeom>
            <a:avLst/>
            <a:gdLst/>
            <a:ahLst/>
            <a:cxnLst/>
            <a:rect l="l" t="t" r="r" b="b"/>
            <a:pathLst>
              <a:path w="4816592" h="352551" extrusionOk="0">
                <a:moveTo>
                  <a:pt x="0" y="0"/>
                </a:moveTo>
                <a:lnTo>
                  <a:pt x="4816592" y="0"/>
                </a:lnTo>
                <a:lnTo>
                  <a:pt x="4816592" y="352551"/>
                </a:lnTo>
                <a:lnTo>
                  <a:pt x="0" y="352551"/>
                </a:lnTo>
                <a:close/>
              </a:path>
            </a:pathLst>
          </a:custGeom>
          <a:solidFill>
            <a:srgbClr val="023D77"/>
          </a:solidFill>
          <a:ln>
            <a:noFill/>
          </a:ln>
        </p:spPr>
      </p:sp>
      <p:sp>
        <p:nvSpPr>
          <p:cNvPr id="155" name="Google Shape;155;p19"/>
          <p:cNvSpPr txBox="1"/>
          <p:nvPr/>
        </p:nvSpPr>
        <p:spPr>
          <a:xfrm>
            <a:off x="1142999" y="776288"/>
            <a:ext cx="162591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GB" sz="9000" dirty="0">
                <a:solidFill>
                  <a:srgbClr val="0457A8"/>
                </a:solidFill>
                <a:latin typeface="Archivo Black"/>
                <a:ea typeface="Archivo Black"/>
                <a:cs typeface="Archivo Black"/>
                <a:sym typeface="Archivo Black"/>
              </a:rPr>
              <a:t>Sprint 3 : Deliverables</a:t>
            </a:r>
          </a:p>
        </p:txBody>
      </p:sp>
      <p:sp>
        <p:nvSpPr>
          <p:cNvPr id="156" name="Google Shape;156;p19"/>
          <p:cNvSpPr txBox="1"/>
          <p:nvPr/>
        </p:nvSpPr>
        <p:spPr>
          <a:xfrm>
            <a:off x="1142999" y="3456616"/>
            <a:ext cx="16802101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2400" b="1" dirty="0">
                <a:latin typeface="Montserrat" panose="020B0604020202020204" charset="0"/>
              </a:rPr>
              <a:t>Sprint 3 deliverables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EFDP Power BI Dashboard: </a:t>
            </a:r>
            <a:r>
              <a:rPr lang="en-GB" sz="2400" dirty="0">
                <a:latin typeface="Montserrat" panose="020B0604020202020204" charset="0"/>
              </a:rPr>
              <a:t>KPIs and analysis by period, G/L account and company code on the star schema.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Star Schema Load Job: </a:t>
            </a:r>
            <a:r>
              <a:rPr lang="en-GB" sz="2400" dirty="0">
                <a:latin typeface="Montserrat" panose="020B0604020202020204" charset="0"/>
              </a:rPr>
              <a:t>Pentaho transformations and one orchestration job that load the dimensions and then the fact 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Governance Documentation: </a:t>
            </a:r>
            <a:r>
              <a:rPr lang="en-GB" sz="2400" dirty="0">
                <a:latin typeface="Montserrat" panose="020B0604020202020204" charset="0"/>
              </a:rPr>
              <a:t>Data dictionary, source-to-warehouse mapping, quality findings and load controls.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Project Report: </a:t>
            </a:r>
            <a:r>
              <a:rPr lang="en-GB" sz="2400" dirty="0">
                <a:latin typeface="Montserrat" panose="020B0604020202020204" charset="0"/>
              </a:rPr>
              <a:t>Sprint 0 to Sprint 3 report with screenshots.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Montserrat" panose="020B0604020202020204" charset="0"/>
              </a:rPr>
              <a:t>Git Repository: </a:t>
            </a:r>
            <a:r>
              <a:rPr lang="en-GB" sz="2400" dirty="0">
                <a:latin typeface="Montserrat" panose="020B0604020202020204" charset="0"/>
              </a:rPr>
              <a:t>Version-controlled ETL, SQL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205696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1188</Words>
  <Application>Microsoft Office PowerPoint</Application>
  <PresentationFormat>Custom</PresentationFormat>
  <Paragraphs>186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Archivo Black</vt:lpstr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Alagu pandi</dc:creator>
  <cp:lastModifiedBy>Alagu pandi</cp:lastModifiedBy>
  <cp:revision>53</cp:revision>
  <dcterms:modified xsi:type="dcterms:W3CDTF">2026-10-10T07:47:32Z</dcterms:modified>
</cp:coreProperties>
</file>